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74C3C"/>
                </a:solidFill>
              </a:defRPr>
            </a:pPr>
            <a:r>
              <a:t>红酒坊 - 销售数据看板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2025年12月 - 2026年2月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74C3C"/>
                </a:solidFill>
              </a:defRPr>
            </a:pPr>
            <a:r>
              <a:t>核心指标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总销售额: ¥2846.8万</a:t>
            </a:r>
          </a:p>
          <a:p>
            <a:pPr>
              <a:spcAft>
                <a:spcPts val="800"/>
              </a:spcAft>
              <a:defRPr sz="1800"/>
            </a:pPr>
            <a:r>
              <a:t>总毛利: ¥615.6万</a:t>
            </a:r>
          </a:p>
          <a:p>
            <a:pPr>
              <a:spcAft>
                <a:spcPts val="800"/>
              </a:spcAft>
              <a:defRPr sz="1800"/>
            </a:pPr>
            <a:r>
              <a:t>综合毛利率: 21.6%</a:t>
            </a:r>
          </a:p>
          <a:p>
            <a:pPr>
              <a:spcAft>
                <a:spcPts val="800"/>
              </a:spcAft>
              <a:defRPr sz="1800"/>
            </a:pPr>
            <a:r>
              <a:t>订单数: 54,373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整体目标达成率: 74.9%</a:t>
            </a:r>
          </a:p>
          <a:p>
            <a:pPr>
              <a:spcAft>
                <a:spcPts val="800"/>
              </a:spcAft>
              <a:defRPr sz="1800"/>
            </a:pPr>
            <a:r>
              <a:t>(实际: ¥1158万 / 目标: ¥1547万)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农历新年同比增长: +47.1%</a:t>
            </a:r>
          </a:p>
          <a:p>
            <a:pPr>
              <a:spcAft>
                <a:spcPts val="800"/>
              </a:spcAft>
              <a:defRPr sz="1800"/>
            </a:pPr>
            <a:r>
              <a:t>(去年同期 ¥1,936万 → 今年 ¥2,847万)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74C3C"/>
                </a:solidFill>
              </a:defRPr>
            </a:pPr>
            <a:r>
              <a:t>品类销售占比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葡萄酒: ¥538.5万 (18.91%) 毛利率 30.57%</a:t>
            </a:r>
          </a:p>
          <a:p>
            <a:pPr>
              <a:spcAft>
                <a:spcPts val="800"/>
              </a:spcAft>
              <a:defRPr sz="1800"/>
            </a:pPr>
            <a:r>
              <a:t>果酒: ¥476.8万 (16.75%) 毛利率 24.91%</a:t>
            </a:r>
          </a:p>
          <a:p>
            <a:pPr>
              <a:spcAft>
                <a:spcPts val="800"/>
              </a:spcAft>
              <a:defRPr sz="1800"/>
            </a:pPr>
            <a:r>
              <a:t>啤酒: ¥211.5万 (7.43%) 毛利率 23.23%</a:t>
            </a:r>
          </a:p>
          <a:p>
            <a:pPr>
              <a:spcAft>
                <a:spcPts val="800"/>
              </a:spcAft>
              <a:defRPr sz="1800"/>
            </a:pPr>
            <a:r>
              <a:t>古法酒: ¥102.9万 (3.61%) 毛利率 24.42%</a:t>
            </a:r>
          </a:p>
          <a:p>
            <a:pPr>
              <a:spcAft>
                <a:spcPts val="800"/>
              </a:spcAft>
              <a:defRPr sz="1800"/>
            </a:pPr>
            <a:r>
              <a:t>洋酒: ¥56.4万 (1.98%) 毛利率 22.27%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74C3C"/>
                </a:solidFill>
              </a:defRPr>
            </a:pPr>
            <a:r>
              <a:t>TOP品牌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1. 高升: ¥187.3万 (6.58%)</a:t>
            </a:r>
          </a:p>
          <a:p>
            <a:pPr>
              <a:spcAft>
                <a:spcPts val="800"/>
              </a:spcAft>
              <a:defRPr sz="1800"/>
            </a:pPr>
            <a:r>
              <a:t>2. 青大师: ¥143.6万 (5.04%)</a:t>
            </a:r>
          </a:p>
          <a:p>
            <a:pPr>
              <a:spcAft>
                <a:spcPts val="800"/>
              </a:spcAft>
              <a:defRPr sz="1800"/>
            </a:pPr>
            <a:r>
              <a:t>3. 小花样: ¥128.8万 (4.52%)</a:t>
            </a:r>
          </a:p>
          <a:p>
            <a:pPr>
              <a:spcAft>
                <a:spcPts val="800"/>
              </a:spcAft>
              <a:defRPr sz="1800"/>
            </a:pPr>
            <a:r>
              <a:t>4. 大黄狗: ¥101.8万 (3.58%)</a:t>
            </a:r>
          </a:p>
          <a:p>
            <a:pPr>
              <a:spcAft>
                <a:spcPts val="800"/>
              </a:spcAft>
              <a:defRPr sz="1800"/>
            </a:pPr>
            <a:r>
              <a:t>5. 红动: ¥72.0万 (2.53%)</a:t>
            </a:r>
          </a:p>
          <a:p>
            <a:pPr>
              <a:spcAft>
                <a:spcPts val="800"/>
              </a:spcAft>
              <a:defRPr sz="1800"/>
            </a:pPr>
            <a:r>
              <a:t>6. 生龙: ¥47.0万 (1.65%)</a:t>
            </a:r>
          </a:p>
          <a:p>
            <a:pPr>
              <a:spcAft>
                <a:spcPts val="800"/>
              </a:spcAft>
              <a:defRPr sz="1800"/>
            </a:pPr>
            <a:r>
              <a:t>7. 老虎先森: ¥46.4万 (1.63%)</a:t>
            </a:r>
          </a:p>
          <a:p>
            <a:pPr>
              <a:spcAft>
                <a:spcPts val="800"/>
              </a:spcAft>
              <a:defRPr sz="1800"/>
            </a:pPr>
            <a:r>
              <a:t>8. 知食: ¥44.0万 (1.54%)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74C3C"/>
                </a:solidFill>
              </a:defRPr>
            </a:pPr>
            <a:r>
              <a:t>分析结论与建议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【风险】</a:t>
            </a:r>
          </a:p>
          <a:p>
            <a:pPr>
              <a:spcAft>
                <a:spcPts val="800"/>
              </a:spcAft>
              <a:defRPr sz="1800"/>
            </a:pPr>
            <a:r>
              <a:t>• 整体目标达成率仅75%，需加快Q1进度</a:t>
            </a:r>
          </a:p>
          <a:p>
            <a:pPr>
              <a:spcAft>
                <a:spcPts val="800"/>
              </a:spcAft>
              <a:defRPr sz="1800"/>
            </a:pPr>
            <a:r>
              <a:t>• 葡萄酒达成率仅51%，大黄狗、高升表现不佳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【机会】</a:t>
            </a:r>
          </a:p>
          <a:p>
            <a:pPr>
              <a:spcAft>
                <a:spcPts val="800"/>
              </a:spcAft>
              <a:defRPr sz="1800"/>
            </a:pPr>
            <a:r>
              <a:t>• 啤酒超额195%，青大师(285%)表现强劲</a:t>
            </a:r>
          </a:p>
          <a:p>
            <a:pPr>
              <a:spcAft>
                <a:spcPts val="800"/>
              </a:spcAft>
              <a:defRPr sz="1800"/>
            </a:pPr>
            <a:r>
              <a:t>• 果酒超额123%，小花样、老虎先森增长快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【建议】</a:t>
            </a:r>
          </a:p>
          <a:p>
            <a:pPr>
              <a:spcAft>
                <a:spcPts val="800"/>
              </a:spcAft>
              <a:defRPr sz="1800"/>
            </a:pPr>
            <a:r>
              <a:t>• 加速葡萄酒促销，提升Q1达成率</a:t>
            </a:r>
          </a:p>
          <a:p>
            <a:pPr>
              <a:spcAft>
                <a:spcPts val="800"/>
              </a:spcAft>
              <a:defRPr sz="1800"/>
            </a:pPr>
            <a:r>
              <a:t>• 加大啤酒/果酒备货</a:t>
            </a:r>
          </a:p>
          <a:p>
            <a:pPr>
              <a:spcAft>
                <a:spcPts val="800"/>
              </a:spcAft>
              <a:defRPr sz="1800"/>
            </a:pPr>
            <a:r>
              <a:t>• 维护TOP客户，提升复购率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