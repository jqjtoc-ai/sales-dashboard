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667EEA"/>
                </a:solidFill>
              </a:defRPr>
            </a:pPr>
            <a:r>
              <a:t>至汇贸易 销售数据分析报告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一、核心销售指标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销售总额：¥7,134,913</a:t>
            </a:r>
            <a:br/>
            <a:r>
              <a:t>毛利：¥1,229,722</a:t>
            </a:r>
            <a:br/>
            <a:r>
              <a:t>毛利率：17.2%</a:t>
            </a:r>
            <a:br/>
            <a:r>
              <a:t>有效订单：44,078笔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二、部门销售占比 TOP5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2400"/>
            </a:pPr>
            <a:r>
              <a:t>1. 02北区包场-高州：¥917,880 (12.9%)</a:t>
            </a:r>
          </a:p>
          <a:p>
            <a:pPr>
              <a:spcAft>
                <a:spcPts val="1500"/>
              </a:spcAft>
              <a:defRPr sz="2400"/>
            </a:pPr>
            <a:r>
              <a:t>2. 01南区包场：¥879,781 (12.3%)</a:t>
            </a:r>
          </a:p>
          <a:p>
            <a:pPr>
              <a:spcAft>
                <a:spcPts val="1500"/>
              </a:spcAft>
              <a:defRPr sz="2400"/>
            </a:pPr>
            <a:r>
              <a:t>3. 05电白区：¥356,411 (5.0%)</a:t>
            </a:r>
          </a:p>
          <a:p>
            <a:pPr>
              <a:spcAft>
                <a:spcPts val="1500"/>
              </a:spcAft>
              <a:defRPr sz="2400"/>
            </a:pPr>
            <a:r>
              <a:t>4. 06化州区：¥304,804 (4.3%)</a:t>
            </a:r>
          </a:p>
          <a:p>
            <a:pPr>
              <a:spcAft>
                <a:spcPts val="1500"/>
              </a:spcAft>
              <a:defRPr sz="2400"/>
            </a:pPr>
            <a:r>
              <a:t>5. 04茂南区：¥280,016 (3.9%)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三、品牌销售排名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1. 新五谷杂粮类：¥443,430 (6.2%)</a:t>
            </a:r>
          </a:p>
          <a:p>
            <a:pPr>
              <a:spcAft>
                <a:spcPts val="800"/>
              </a:spcAft>
              <a:defRPr sz="2000"/>
            </a:pPr>
            <a:r>
              <a:t>2. 爱乡亲：¥338,183 (4.7%)</a:t>
            </a:r>
          </a:p>
          <a:p>
            <a:pPr>
              <a:spcAft>
                <a:spcPts val="800"/>
              </a:spcAft>
              <a:defRPr sz="2000"/>
            </a:pPr>
            <a:r>
              <a:t>3. 豪士（天冠食品）：¥212,978 (3.0%)</a:t>
            </a:r>
          </a:p>
          <a:p>
            <a:pPr>
              <a:spcAft>
                <a:spcPts val="800"/>
              </a:spcAft>
              <a:defRPr sz="2000"/>
            </a:pPr>
            <a:r>
              <a:t>4. 徐福记：¥208,018 (2.9%)</a:t>
            </a:r>
          </a:p>
          <a:p>
            <a:pPr>
              <a:spcAft>
                <a:spcPts val="800"/>
              </a:spcAft>
              <a:defRPr sz="2000"/>
            </a:pPr>
            <a:r>
              <a:t>5. 新凉果：¥141,319 (2.0%)</a:t>
            </a:r>
          </a:p>
          <a:p>
            <a:pPr>
              <a:spcAft>
                <a:spcPts val="800"/>
              </a:spcAft>
              <a:defRPr sz="2000"/>
            </a:pPr>
            <a:r>
              <a:t>6. 盐津铺子：¥128,488 (1.8%)</a:t>
            </a:r>
          </a:p>
          <a:p>
            <a:pPr>
              <a:spcAft>
                <a:spcPts val="800"/>
              </a:spcAft>
              <a:defRPr sz="2000"/>
            </a:pPr>
            <a:r>
              <a:t>7. 小恩爱：¥116,912 (1.6%)</a:t>
            </a:r>
          </a:p>
          <a:p>
            <a:pPr>
              <a:spcAft>
                <a:spcPts val="800"/>
              </a:spcAft>
              <a:defRPr sz="2000"/>
            </a:pPr>
            <a:r>
              <a:t>8. 甜蜜1派果冻：¥116,218 (1.6%)</a:t>
            </a:r>
          </a:p>
          <a:p>
            <a:pPr>
              <a:spcAft>
                <a:spcPts val="800"/>
              </a:spcAft>
              <a:defRPr sz="2000"/>
            </a:pPr>
            <a:r>
              <a:t>9. 甘竹鱼：¥89,891 (1.3%)</a:t>
            </a:r>
          </a:p>
          <a:p>
            <a:pPr>
              <a:spcAft>
                <a:spcPts val="800"/>
              </a:spcAft>
              <a:defRPr sz="2000"/>
            </a:pPr>
            <a:r>
              <a:t>10. 永得利饼干：¥87,637 (1.2%)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四、业务员绩效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1. （宇越）金港湾：¥394,889 (5.5%)</a:t>
            </a:r>
          </a:p>
          <a:p>
            <a:pPr>
              <a:spcAft>
                <a:spcPts val="800"/>
              </a:spcAft>
              <a:defRPr sz="2000"/>
            </a:pPr>
            <a:r>
              <a:t>2. 0101朱秋眉：¥340,122 (4.8%)</a:t>
            </a:r>
          </a:p>
          <a:p>
            <a:pPr>
              <a:spcAft>
                <a:spcPts val="800"/>
              </a:spcAft>
              <a:defRPr sz="2000"/>
            </a:pPr>
            <a:r>
              <a:t>3. （骏华）龙山多客隆（散柜）：¥110,873 (1.6%)</a:t>
            </a:r>
          </a:p>
          <a:p>
            <a:pPr>
              <a:spcAft>
                <a:spcPts val="800"/>
              </a:spcAft>
              <a:defRPr sz="2000"/>
            </a:pPr>
            <a:r>
              <a:t>4. 马踏平民散柜（星期日不收货）：¥90,953 (1.3%)</a:t>
            </a:r>
          </a:p>
          <a:p>
            <a:pPr>
              <a:spcAft>
                <a:spcPts val="800"/>
              </a:spcAft>
              <a:defRPr sz="2000"/>
            </a:pPr>
            <a:r>
              <a:t>5. 0201傅豪运：¥76,008 (1.1%)</a:t>
            </a:r>
          </a:p>
          <a:p>
            <a:pPr>
              <a:spcAft>
                <a:spcPts val="800"/>
              </a:spcAft>
              <a:defRPr sz="2000"/>
            </a:pPr>
            <a:r>
              <a:t>6. 0503柯莲珠：¥72,707 (1.0%)</a:t>
            </a:r>
          </a:p>
          <a:p>
            <a:pPr>
              <a:spcAft>
                <a:spcPts val="800"/>
              </a:spcAft>
              <a:defRPr sz="2000"/>
            </a:pPr>
            <a:r>
              <a:t>7. 0505林来娣：¥71,350 (1.0%)</a:t>
            </a:r>
          </a:p>
          <a:p>
            <a:pPr>
              <a:spcAft>
                <a:spcPts val="800"/>
              </a:spcAft>
              <a:defRPr sz="2000"/>
            </a:pPr>
            <a:r>
              <a:t>8. 0605曾春兰：¥68,577 (1.0%)</a:t>
            </a:r>
          </a:p>
          <a:p>
            <a:pPr>
              <a:spcAft>
                <a:spcPts val="800"/>
              </a:spcAft>
              <a:defRPr sz="2000"/>
            </a:pPr>
            <a:r>
              <a:t>9. 石鼓好而多散柜：¥67,684 (0.9%)</a:t>
            </a:r>
          </a:p>
          <a:p>
            <a:pPr>
              <a:spcAft>
                <a:spcPts val="800"/>
              </a:spcAft>
              <a:defRPr sz="2000"/>
            </a:pPr>
            <a:r>
              <a:t>10. 0403黄小燕：¥66,837 (0.9%)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五、建议措施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销售策略：</a:t>
            </a:r>
            <a:br/>
            <a:r>
              <a:t>• 重点维护高州、南区客户（占比超25%）</a:t>
            </a:r>
            <a:br/>
            <a:r>
              <a:t>• 提升业务员激励机制</a:t>
            </a:r>
            <a:br/>
            <a:r>
              <a:t>• 加大五谷杂粮、凉果品类备货</a:t>
            </a:r>
            <a:br/>
            <a:br/>
            <a:r>
              <a:t>库存管理：</a:t>
            </a:r>
            <a:br/>
            <a:r>
              <a:t>• 立即补货407个缺货产品</a:t>
            </a:r>
            <a:br/>
            <a:r>
              <a:t>• 清理核桃花生、龙眼干等滞销品</a:t>
            </a:r>
            <a:br/>
            <a:r>
              <a:t>• 建立安全库存机制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